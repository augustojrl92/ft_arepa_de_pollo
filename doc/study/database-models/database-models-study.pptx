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1695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Modelos de base de datos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01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Mini curso visual del proyecto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Fuente principal: doc/database-models-explained.md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Resumen para repaso rápido antes de evaluación</a:t>
            </a:r>
            <a:endParaRPr lang="es-E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Fuente de verdad local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02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La UI no consulta 42 directamente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API 42 -&gt; sync -&gt; PostgreSQL local -&gt; endpoints -&gt; frontend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La base local es la fuente para consultas estables</a:t>
            </a:r>
            <a:endParaRPr lang="es-E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Mapa general de modelos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03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User = auth interna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CampusUser = dominio sincronizado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Coalition = estado actual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Snapshots = histórico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Cursores = incremental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SyncMetadata = last_sync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FriendsList / UserPreferences = producto</a:t>
            </a:r>
            <a:endParaRPr lang="es-E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User vs CampusUser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04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User: sesión, permisos y autenticación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CampusUser: intra_id, login, level, score, rank y coalición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Relación OneToOne opcional con SET_NULL</a:t>
            </a:r>
            <a:endParaRPr lang="es-E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CampusUser: bloques de campos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05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Identidad 42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Progreso individual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Proyectos y evaluaciones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Coalición denormalizada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Ranking y timestamps</a:t>
            </a:r>
            <a:endParaRPr lang="es-E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Coalition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06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Foto actual local de cada coalición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Campos visuales: slug, image_url, cover_url, color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Campos de negocio: total_score y leader_user_id</a:t>
            </a:r>
            <a:endParaRPr lang="es-E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Estado actual vs histórico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07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Coalition = presente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CoalitionScoreSnapshot = histórico diario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No confundir snapshot con estado actual</a:t>
            </a:r>
            <a:endParaRPr lang="es-E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Snapshots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08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CoalitionScoreSnapshot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CampusUserScoreSnapshot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unique_together evita duplicados por día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indexes aceleran consultas por entidad y fecha</a:t>
            </a:r>
            <a:endParaRPr lang="es-E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Cursores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09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CoalitionProjectCursor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CoalitionEvaluationCursor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Un cursor por coalición y por flujo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Permiten sync incremental sin recalcular todo</a:t>
            </a:r>
            <a:endParaRPr lang="es-E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SyncMetadata y last_sync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10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key + last_time_update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Alimenta /api/status/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Describe frescura operativa, no dominio</a:t>
            </a:r>
            <a:endParaRPr lang="es-E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FriendsList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11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OneToOne con User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ManyToMany consigo mismo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friends, requests_received y requests_sent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Producto puro, no viene de 42</a:t>
            </a:r>
            <a:endParaRPr lang="es-E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UserPreferences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12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custom_avatar, items_per_page y theme_mode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show_sensitive_data, notifications y custom_username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Riesgo: media/avatars rotos si se pierde el fichero</a:t>
            </a:r>
            <a:endParaRPr lang="es-E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Sintaxis ORM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13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models.Model, CharField, IntegerField, DecimalField, BooleanField, DateTimeField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ForeignKey, OneToOneField, ManyToManyField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related_name, on_delete, null, blank, default y unique</a:t>
            </a:r>
            <a:endParaRPr lang="es-E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Meta, índices y __str__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14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Meta configura unique_together e indexes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ordering no se ve activo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__str__ mejora admin, shell y logs</a:t>
            </a:r>
            <a:endParaRPr lang="es-E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Migraciones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15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0005 Coalition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0010 snapshots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0012 SyncMetadata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0014 project cursor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0015 coalitions_user_id + evaluation cursor</a:t>
            </a:r>
            <a:endParaRPr lang="es-E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Historia del esquema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16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Se elimina FortyTwoProfile en authentication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Se elimina Coalition antiguo en coalitions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Nacen FriendsList y UserPreferences en users</a:t>
            </a:r>
            <a:endParaRPr lang="es-E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Flujo de datos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17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API 42 -&gt; commands de sync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Sync escribe tablas locales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Django expone endpoints internos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Next.js consume backend local</a:t>
            </a:r>
            <a:endParaRPr lang="es-E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Vistas conectadas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18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/status -&gt; SyncMetadata -&gt; /api/status/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/coalitions -&gt; Coalition/CampusUser -&gt; /api/coalitions/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/leaderboard -&gt; CampusUser/Coalition -&gt; /api/coalitions/users-ranking/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/users/[login] -&gt; CampusUser/FriendsList/UserPreferences</a:t>
            </a:r>
            <a:endParaRPr lang="es-E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Errores comunes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19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Migraciones pendientes -&gt; faltan tablas/columnas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Snapshot vacío -&gt; sin histórico útil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Cursor mal posicionado -&gt; duplicados o saltos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User sin CampusUser -&gt; perfil roto o incompleto</a:t>
            </a:r>
            <a:endParaRPr lang="es-E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Frases para evaluación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20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User es el usuario interno de Django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CampusUser es el modelo central del dominio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Coalition es la foto actual local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Snapshots guardan evolución histórica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FriendsList y UserPreferences son datos propios de la app</a:t>
            </a:r>
            <a:endParaRPr lang="es-E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/>
      <p:sp>
        <p:nvSpPr>
          <p:cNvPr id="2" name="HeroCard"/>
          <p:cNvSpPr/>
          <p:nvPr/>
        </p:nvSpPr>
        <p:spPr>
          <a:xfrm>
            <a:off x="457200" y="365760"/>
            <a:ext cx="11239560" cy="822960"/>
          </a:xfrm>
          <a:prstGeom prst="roundRect">
            <a:avLst/>
          </a:prstGeom>
          <a:solidFill>
            <a:srgbClr val="10213B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3" name="SlideTitle"/>
          <p:cNvSpPr txBox="1"/>
          <p:nvPr/>
        </p:nvSpPr>
        <p:spPr>
          <a:xfrm>
            <a:off x="731520" y="457200"/>
            <a:ext cx="9906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600" b="1" dirty="0" smtClean="0">
                <a:solidFill>
                  <a:srgbClr val="EDF4FF"/>
                </a:solidFill>
              </a:rPr>
              <a:t>Checklist final</a:t>
            </a:r>
            <a:endParaRPr lang="es-ES" sz="2600" dirty="0"/>
          </a:p>
        </p:txBody>
      </p:sp>
      <p:sp>
        <p:nvSpPr>
          <p:cNvPr id="4" name="SlideIndex"/>
          <p:cNvSpPr txBox="1"/>
          <p:nvPr/>
        </p:nvSpPr>
        <p:spPr>
          <a:xfrm>
            <a:off x="10332720" y="457200"/>
            <a:ext cx="12700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 b="1" dirty="0" smtClean="0">
                <a:solidFill>
                  <a:srgbClr val="7CC7FF"/>
                </a:solidFill>
              </a:rPr>
              <a:t>21</a:t>
            </a:r>
            <a:endParaRPr lang="es-ES" sz="2200" dirty="0"/>
          </a:p>
        </p:txBody>
      </p:sp>
      <p:sp>
        <p:nvSpPr>
          <p:cNvPr id="5" name="LeftPanel"/>
          <p:cNvSpPr/>
          <p:nvPr/>
        </p:nvSpPr>
        <p:spPr>
          <a:xfrm>
            <a:off x="64008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6" name="RightPanel"/>
          <p:cNvSpPr/>
          <p:nvPr/>
        </p:nvSpPr>
        <p:spPr>
          <a:xfrm>
            <a:off x="6261120" y="1463040"/>
            <a:ext cx="5448300" cy="4206240"/>
          </a:xfrm>
          <a:prstGeom prst="roundRect">
            <a:avLst/>
          </a:prstGeom>
          <a:solidFill>
            <a:srgbClr val="0F1A31"/>
          </a:solidFill>
          <a:ln w="19050">
            <a:solidFill>
              <a:srgbClr val="2A3C59"/>
            </a:solidFill>
          </a:ln>
        </p:spPr>
        <p:txBody>
          <a:bodyPr/>
          <a:lstStyle/>
          <a:p/>
        </p:txBody>
      </p:sp>
      <p:sp>
        <p:nvSpPr>
          <p:cNvPr id="9" name="Footer"/>
          <p:cNvSpPr/>
          <p:nvPr/>
        </p:nvSpPr>
        <p:spPr>
          <a:xfrm>
            <a:off x="640080" y="6070600"/>
            <a:ext cx="11089680" cy="548640"/>
          </a:xfrm>
          <a:prstGeom prst="rect">
            <a:avLst/>
          </a:prstGeom>
          <a:solidFill>
            <a:srgbClr val="0C1629"/>
          </a:solidFill>
          <a:ln w="19050">
            <a:solidFill>
              <a:srgbClr val="1D3558"/>
            </a:solidFill>
          </a:ln>
        </p:spPr>
        <p:txBody>
          <a:bodyPr/>
          <a:lstStyle/>
          <a:p/>
        </p:txBody>
      </p:sp>
      <p:sp>
        <p:nvSpPr>
          <p:cNvPr id="10" name="FooterText"/>
          <p:cNvSpPr txBox="1"/>
          <p:nvPr/>
        </p:nvSpPr>
        <p:spPr>
          <a:xfrm>
            <a:off x="822960" y="6197600"/>
            <a:ext cx="10668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200" b="0" dirty="0" smtClean="0">
                <a:solidFill>
                  <a:srgbClr val="9CAECC"/>
                </a:solidFill>
              </a:rPr>
              <a:t>Guía resumen alineada con las páginas HTML del mini curso</a:t>
            </a:r>
            <a:endParaRPr lang="es-ES" sz="1200" dirty="0"/>
          </a:p>
        </p:txBody>
      </p:sp>
      <p:sp>
        <p:nvSpPr>
          <p:cNvPr id="7" name="LeftText"/>
          <p:cNvSpPr txBox="1"/>
          <p:nvPr/>
        </p:nvSpPr>
        <p:spPr>
          <a:xfrm>
            <a:off x="91440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Sé explicar User vs CampusUser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Sé explicar estado actual vs histórico</a:t>
            </a:r>
            <a:endParaRPr lang="es-ES" sz="1650" dirty="0"/>
          </a:p>
        </p:txBody>
      </p:sp>
      <p:sp>
        <p:nvSpPr>
          <p:cNvPr id="8" name="RightText"/>
          <p:cNvSpPr txBox="1"/>
          <p:nvPr/>
        </p:nvSpPr>
        <p:spPr>
          <a:xfrm>
            <a:off x="6535440" y="173736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1650" b="0" dirty="0" smtClean="0">
                <a:solidFill>
                  <a:srgbClr val="D9F1FF"/>
                </a:solidFill>
              </a:rPr>
              <a:t>• Sé explicar snapshot vs cursor</a:t>
            </a:r>
            <a:endParaRPr lang="es-ES" sz="1650" dirty="0"/>
          </a:p>
          <a:p>
            <a:r>
              <a:rPr lang="es-ES" sz="1650" b="0" dirty="0" smtClean="0">
                <a:solidFill>
                  <a:srgbClr val="D9F1FF"/>
                </a:solidFill>
              </a:rPr>
              <a:t>• Sé explicar SyncMetadata, migraciones y flujo local</a:t>
            </a:r>
            <a:endParaRPr lang="es-E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Theme">
  <a:themeElements>
    <a:clrScheme name="Study">
      <a:dk1>
        <a:srgbClr val="06101A"/>
      </a:dk1>
      <a:lt1>
        <a:srgbClr val="EDF4FF"/>
      </a:lt1>
      <a:dk2>
        <a:srgbClr val="0F1A31"/>
      </a:dk2>
      <a:lt2>
        <a:srgbClr val="D9F1FF"/>
      </a:lt2>
      <a:accent1>
        <a:srgbClr val="7CC7FF"/>
      </a:accent1>
      <a:accent2>
        <a:srgbClr val="8CF2CB"/>
      </a:accent2>
      <a:accent3>
        <a:srgbClr val="FFD37C"/>
      </a:accent3>
      <a:accent4>
        <a:srgbClr val="B8A4FF"/>
      </a:accent4>
      <a:accent5>
        <a:srgbClr val="F4A6FF"/>
      </a:accent5>
      <a:accent6>
        <a:srgbClr val="FFB37A"/>
      </a:accent6>
      <a:hlink>
        <a:srgbClr val="7CC7FF"/>
      </a:hlink>
      <a:folHlink>
        <a:srgbClr val="B8A4FF"/>
      </a:folHlink>
    </a:clrScheme>
    <a:fontScheme name="StudyFonts">
      <a:majorFont>
        <a:latin typeface="Aptos Display"/>
      </a:majorFont>
      <a:minorFont>
        <a:latin typeface="Aptos"/>
      </a:minorFont>
    </a:fontScheme>
    <a:fmtScheme name="StudyFmt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rgbClr val="07101D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21</vt:i4>
      </vt:variant>
    </vt:vector>
  </HeadingPairs>
  <TitlesOfParts>
    <vt:vector size="21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database-models-study</dc:title>
  <dc:creator>Codex</dc:creator>
  <cp:lastModifiedBy>Codex</cp:lastModifiedBy>
  <dcterms:created xsi:type="dcterms:W3CDTF">2026-05-25T19:40:33Z</dcterms:created>
  <dcterms:modified xsi:type="dcterms:W3CDTF">2026-05-25T19:40:33Z</dcterms:modified>
</cp:coreProperties>
</file>